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d509151-377b-25e6-5efb-7ee05b8c3006}">
          <p14:sldIdLst>
            <p14:sldId id="257"/>
          </p14:sldIdLst>
        </p14:section>
        <p14:section name="Literature Survey" id="{43362117-96e7-5190-940a-b82b509ae59d}">
          <p14:sldIdLst>
            <p14:sldId id="258"/>
          </p14:sldIdLst>
        </p14:section>
        <p14:section name="Problem Statement" id="{3e93376d-16e3-6583-d2c3-d7085c728ee3}">
          <p14:sldIdLst>
            <p14:sldId id="259"/>
          </p14:sldIdLst>
        </p14:section>
        <p14:section name="Proposed Solution / Architecture" id="{4f6d993f-646a-0a6e-bba4-754766791d35}">
          <p14:sldIdLst>
            <p14:sldId id="260"/>
            <p14:sldId id="261"/>
            <p14:sldId id="262"/>
            <p14:sldId id="263"/>
          </p14:sldIdLst>
        </p14:section>
        <p14:section name="Results &amp; Analysis" id="{7029f1b9-a198-0c3f-3df1-cc700086f4c8}">
          <p14:sldIdLst>
            <p14:sldId id="264"/>
            <p14:sldId id="265"/>
            <p14:sldId id="266"/>
            <p14:sldId id="267"/>
          </p14:sldIdLst>
        </p14:section>
        <p14:section name="Conclusion" id="{dccd2c6e-52cf-3542-beb0-c996676ad66b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+mn-lt"/>
              </a:rPr>
              <a:t>Train on first 70% of each capture, test on last 30%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4285F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Rule: 20+ hosts / min</c:v>
                  </c:pt>
                  <c:pt idx="1">
                    <c:v>Logistic Regression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0.043</c:v>
                </c:pt>
                <c:pt idx="1">
                  <c:v>0.493</c:v>
                </c:pt>
                <c:pt idx="2">
                  <c:v>0.997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DB443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Rule: 20+ hosts / min</c:v>
                  </c:pt>
                  <c:pt idx="1">
                    <c:v>Logistic Regression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0.178</c:v>
                </c:pt>
                <c:pt idx="1">
                  <c:v>0.997</c:v>
                </c:pt>
                <c:pt idx="2">
                  <c:v>0.978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F4B40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Rule: 20+ hosts / min</c:v>
                  </c:pt>
                  <c:pt idx="1">
                    <c:v>Logistic Regression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0.069</c:v>
                </c:pt>
                <c:pt idx="1">
                  <c:v>0.66</c:v>
                </c:pt>
                <c:pt idx="2">
                  <c:v>0.988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+mn-lt"/>
              </a:rPr>
              <a:t>AUC-PR when the capture is left out of training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4285F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Virut (sc. 5)</c:v>
                  </c:pt>
                  <c:pt idx="1">
                    <c:v>Virut (sc. 13)</c:v>
                  </c:pt>
                  <c:pt idx="2">
                    <c:v>Rbot (sc. 11)</c:v>
                  </c:pt>
                  <c:pt idx="3">
                    <c:v>NSIS (sc. 12)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0.974</c:v>
                </c:pt>
                <c:pt idx="2">
                  <c:v>0.02</c:v>
                </c:pt>
                <c:pt idx="3">
                  <c:v>0.014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DB443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Virut (sc. 5)</c:v>
                  </c:pt>
                  <c:pt idx="1">
                    <c:v>Virut (sc. 13)</c:v>
                  </c:pt>
                  <c:pt idx="2">
                    <c:v>Rbot (sc. 11)</c:v>
                  </c:pt>
                  <c:pt idx="3">
                    <c:v>NSIS (sc. 12)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0.871</c:v>
                </c:pt>
                <c:pt idx="1">
                  <c:v>0.159</c:v>
                </c:pt>
                <c:pt idx="2">
                  <c:v>0.04</c:v>
                </c:pt>
                <c:pt idx="3">
                  <c:v>0.029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51560"/>
            <a:ext cx="822960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Network Traffic Analyser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Finding botnet-infected hosts in Wireshark captures with HDFS, Pig, Hive and Spark MLlib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CSE412 Big Data &amp; Large-Scale Computing · Applied Project · October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1. Introduction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51560"/>
            <a:ext cx="822960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network capture (what Wireshark records) logs every packet: time, source, destination, protocol, size, TCP flags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It is the most detailed log a network keeps, and it is large: one 16-hour capture in our data has 50.8 million packets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We built an end-to-end analyser that turns captures into a list of hosts that behave like botnet-infected machines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Course track E (ETL + warehouse + ML): HDFS → Apache Pig → Apache Hive → Spark MLlib, with real data flowing between them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web dashboard lets anyone upload their own capture and watch it go through the pipeline step by step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2. Literature Survey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01752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matters here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BotHunter — Gu et al., USENIX Security 2007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Follows an infection's life cycle (scan → exploit → C&amp;C) in IDS alerts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Bots leave a recognisable pattern of network behaviour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BotMiner — Gu et al., USENIX Security 2008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Clusters hosts by similar communication and malicious activity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Judge hosts by what they do, not by signatures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CTU-13 — Garcia et al., Computers &amp; Security 2014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botnet traffic on a university network, labelled hosts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dataset and ground truth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Sommer &amp; Paxson, IEEE S&amp;P 2010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ML intrusion detection struggles outside its training data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Explains our weak result on unseen malware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Lee &amp; Lee, ACM CCR 2013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Packet and NetFlow analysis at terabyte scale on Hadoop and Hive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Hadoop-family tools fit packet-scale data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Pig Latin (SIGMOD 2008), Hive (VLDB 2009), Spark (CACM 2016)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three engines we use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Dataflow ETL, SQL warehouse, distributed ML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3. Problem Statement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51560"/>
            <a:ext cx="822960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Given only packet headers from a network capture, find the hosts infected with botnet malware — and test whether this still works when the malware changes.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Why one tool is not enough: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Volume: 74.9 million packets to parse, de-duplicate and group into flows — a batch ETL job (Pig)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Query access: checking the cleaning, joining labels and reports over 7.4 million flows, plus a self-join of every flow with its reply — SQL (Hive)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Learning: telling infected from normal hosts needs a trained, honestly evaluated classifier (Spark MLlib)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4. Proposed Solution — Architecture</a:t>
            </a:r>
            <a:endParaRPr lang="en-US" sz="2600" dirty="0"/>
          </a:p>
        </p:txBody>
      </p:sp>
      <p:sp>
        <p:nvSpPr>
          <p:cNvPr id="3" name="stage-0"/>
          <p:cNvSpPr/>
          <p:nvPr/>
        </p:nvSpPr>
        <p:spPr>
          <a:xfrm>
            <a:off x="457200" y="1463040"/>
            <a:ext cx="10241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63040"/>
            <a:ext cx="1024128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Capture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20624" y="24688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.pcap / .pcapng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499616" y="1920240"/>
            <a:ext cx="146304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7" name="stage-1"/>
          <p:cNvSpPr/>
          <p:nvPr/>
        </p:nvSpPr>
        <p:spPr>
          <a:xfrm>
            <a:off x="1664208" y="1463040"/>
            <a:ext cx="10241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64208" y="1463040"/>
            <a:ext cx="1024128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Wireshark-style log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627632" y="24688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No., Time, Source, Destination, Protocol, Length, Info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06624" y="1920240"/>
            <a:ext cx="146304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1" name="stage-2"/>
          <p:cNvSpPr/>
          <p:nvPr/>
        </p:nvSpPr>
        <p:spPr>
          <a:xfrm>
            <a:off x="2871216" y="1463040"/>
            <a:ext cx="10241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71216" y="1463040"/>
            <a:ext cx="1024128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HDFS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24688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raw logs 10.8 GB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13632" y="1920240"/>
            <a:ext cx="146304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5" name="stage-3"/>
          <p:cNvSpPr/>
          <p:nvPr/>
        </p:nvSpPr>
        <p:spPr>
          <a:xfrm>
            <a:off x="4078224" y="1463040"/>
            <a:ext cx="1024128" cy="914400"/>
          </a:xfrm>
          <a:prstGeom prst="rect">
            <a:avLst/>
          </a:prstGeom>
          <a:solidFill>
            <a:srgbClr val="E8F0FE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78224" y="1463040"/>
            <a:ext cx="1024128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Apache Pig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041648" y="24688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parse, clean, de-duplicate → 1-min flows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1920240"/>
            <a:ext cx="146304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9" name="stage-4"/>
          <p:cNvSpPr/>
          <p:nvPr/>
        </p:nvSpPr>
        <p:spPr>
          <a:xfrm>
            <a:off x="5285232" y="1463040"/>
            <a:ext cx="1024128" cy="914400"/>
          </a:xfrm>
          <a:prstGeom prst="rect">
            <a:avLst/>
          </a:prstGeom>
          <a:solidFill>
            <a:srgbClr val="E8F0FE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85232" y="1463040"/>
            <a:ext cx="1024128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Apache Hive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248656" y="24688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labels, reply-flow join, host features, reports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27648" y="1920240"/>
            <a:ext cx="146304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3" name="stage-5"/>
          <p:cNvSpPr/>
          <p:nvPr/>
        </p:nvSpPr>
        <p:spPr>
          <a:xfrm>
            <a:off x="6492240" y="1463040"/>
            <a:ext cx="1024128" cy="914400"/>
          </a:xfrm>
          <a:prstGeom prst="rect">
            <a:avLst/>
          </a:prstGeom>
          <a:solidFill>
            <a:srgbClr val="E8F0FE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1463040"/>
            <a:ext cx="1024128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Spark MLlib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55664" y="24688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train + score botnet model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534656" y="1920240"/>
            <a:ext cx="146304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7" name="stage-6"/>
          <p:cNvSpPr/>
          <p:nvPr/>
        </p:nvSpPr>
        <p:spPr>
          <a:xfrm>
            <a:off x="7699248" y="1463040"/>
            <a:ext cx="10241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99248" y="1463040"/>
            <a:ext cx="1024128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Dashboard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662672" y="24688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upload + results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520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Every stage reads the previous stage's output from HDFS; blue boxes are the three course tools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Spark's predictions go back into Hive, so results can be queried with SQL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4. Proposed Solution — Why each tool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93192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 in the pipeline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this tool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HDFS 3.4.1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Stores the 10.8 GB of packet logs and every stage's output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shared store all engines read and write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Apache Pig 0.18 (on Tez)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Reads Wireshark's free-text Info column (ports, flags, sizes), drops non-IP rows and duplicates, builds 7.4M one-minute flows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Messy line-by-line text cleaning is a dataflow job, not SQL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Apache Hive 4.2 (on Tez)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Joins host labels, matches each flow with its reply, summarises each host minute by minute, validates Pig's output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joins and reports are natural in SQL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Spark MLlib 4.0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Trains Logistic Regression and Random Forest, evaluates them, scores new captures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Distributed ML over 2.3M host-minutes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Streamlit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Upload page and result dashboards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 Python web UI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4. Proposed Solution — Dataset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05840"/>
                <a:gridCol w="2011680"/>
                <a:gridCol w="1188720"/>
                <a:gridCol w="100584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Malware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Behaviour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Packets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Infected hosts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CTU-13 scenario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spam, port scan, HTTP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CTU-13 scenario 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Rbot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IRC control, ICMP flood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CTU-13 scenario 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NSIS.ay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peer-to-peer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h 13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13.2M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CTU-13 scenario 13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spam, port scan, HTTP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 h 22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50.8M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2971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Real traffic from a university router in Prague (Stratosphere Lab), with lab PCs deliberately infected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Labels: infected hosts and 3 verified normal workstations per capture; all other hosts are unlabelled background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Packet headers only (no payloads) — published that way for privacy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4. Proposed Solution — Web app</a:t>
            </a:r>
            <a:endParaRPr lang="en-US" sz="2600" dirty="0"/>
          </a:p>
        </p:txBody>
      </p:sp>
      <p:pic>
        <p:nvPicPr>
          <p:cNvPr id="3" name="upload-page-screenshot" descr="/tmp/claude-1000/-home-nakul-devfiles-PROJECTS-log-analyser/7e2aa572-df86-4165-8806-affe3dc6949c/scratchpad/deck/analyse_ste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120640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51560"/>
            <a:ext cx="5120640" cy="320040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06440" y="1051560"/>
            <a:ext cx="2880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Upload a capture file (.pcap / .pcapng)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It runs through 5 steps: read → Pig → Hive → Spark → report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Each step shows live progress and its time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Result: a verdict, hosts ranked by botnet score, traffic charts, packet view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A 30 MB capture (353k packets) takes about 2 minutes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5. Results — Pipeline at full scale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75488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 captures → HDFS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74,863,851 packet rows (10.8 GB)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Pig: clean + build flows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74,863,787 IPv4 packets, 64 rejected, 0 duplicates → 7,394,677 flows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Hive: features + reports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2,274,264 host-minutes, validation counts, dashboard tables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10.8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Spark MLlib: train + evaluate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models × 2 evaluation methods, saved 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Single-node Hadoop cluster (24 cores, 16 GB RAM). Every packet is accounted for: parsed, rejected (ARP / IPv6 / malformed) or de-duplicated.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5. Results — How infected hosts behave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9377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host, per minute (average)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Infected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Connection attempts never answered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Flows with no reply at all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Mail (SMTP) flows — spam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IRC flows — botnet control channel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Different hosts contacted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0" y="105156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Bots try many connections that nobody answers — the clearest signal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Spam and IRC traffic only ever come from infected hosts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The model's top features agree: unanswered SYNs, SYN flows, HTTPS flows, flow count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5. Results — Detecting a known infection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0" y="1051560"/>
            <a:ext cx="2743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Random Forest: F1 0.988 — catches 97.8% of infected minutes with 99.7% precision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0 false alarms on the verified normal PCs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A simple "talks to 20+ hosts" rule scores F1 0.07: servers do that all the time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5. Results — Detecting unseen malware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0" y="1051560"/>
            <a:ext cx="2743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Train on 3 captures, test on the 4th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Virut is still caught (AUC-PR 0.97–1.0): the other Virut capture was in training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Rbot and NSIS behave differently and are missed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Behaviour models do not transfer to new malware families — as Sommer &amp; Paxson predict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6. Conclusion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51560"/>
            <a:ext cx="822960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What worked</a:t>
            </a:r>
            <a:endParaRPr lang="en-US" sz="1500" dirty="0"/>
          </a:p>
          <a:p>
            <a:pPr lvl="1" marL="4572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working HDFS → Pig → Hive → Spark MLlib pipeline over 74.9M real packets, end to end in 24 minutes</a:t>
            </a:r>
            <a:endParaRPr lang="en-US" sz="1500" dirty="0"/>
          </a:p>
          <a:p>
            <a:pPr lvl="1" marL="4572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Infected hosts found with F1 0.988 and no false alarms on normal PCs, when the malware is known</a:t>
            </a:r>
            <a:endParaRPr lang="en-US" sz="1500" dirty="0"/>
          </a:p>
          <a:p>
            <a:pPr lvl="1" marL="4572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web app where anyone can upload a Wireshark capture and get results in minutes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Limits</a:t>
            </a:r>
            <a:endParaRPr lang="en-US" sz="1500" dirty="0"/>
          </a:p>
          <a:p>
            <a:pPr lvl="1" marL="4572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Malware families not seen in training are missed; only 3–4 infected and 3 normal hosts per capture are labelled</a:t>
            </a:r>
            <a:endParaRPr lang="en-US" sz="1500" dirty="0"/>
          </a:p>
          <a:p>
            <a:pPr lvl="1" marL="4572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Headers only, IPv4 only, single-node cluster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Future work</a:t>
            </a:r>
            <a:endParaRPr lang="en-US" sz="1500" dirty="0"/>
          </a:p>
          <a:p>
            <a:pPr lvl="1" marL="4572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Train on more botnet families (other CTU-13 scenarios), add IPv6 and DNS features, add live capture with Kafka + Spark Streaming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DB4437"/>
      </a:accent2>
      <a:accent3>
        <a:srgbClr val="F4B400"/>
      </a:accent3>
      <a:accent4>
        <a:srgbClr val="0F9D58"/>
      </a:accent4>
      <a:accent5>
        <a:srgbClr val="AB47BC"/>
      </a:accent5>
      <a:accent6>
        <a:srgbClr val="00ACC1"/>
      </a:accent6>
      <a:hlink>
        <a:srgbClr val="1155CC"/>
      </a:hlink>
      <a:folHlink>
        <a:srgbClr val="1155CC"/>
      </a:folHlink>
    </a:clrScheme>
    <a:fontScheme name="Simple Ligh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Traffic Analyser — CSE412 Applied Project</dc:title>
  <dc:subject>PptxGenJS Presentation</dc:subject>
  <dc:creator>PptxGenJS</dc:creator>
  <cp:lastModifiedBy>PptxGenJS</cp:lastModifiedBy>
  <cp:revision>1</cp:revision>
  <dcterms:created xsi:type="dcterms:W3CDTF">2026-10-17T08:31:58Z</dcterms:created>
  <dcterms:modified xsi:type="dcterms:W3CDTF">2026-10-17T08:31:58Z</dcterms:modified>
</cp:coreProperties>
</file>